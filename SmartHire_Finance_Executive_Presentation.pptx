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011680" cy="3657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FINANCE &amp; HR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SmartHire Finance</a:t>
            </a:r>
          </a:p>
          <a:p>
            <a:pPr>
              <a:spcBef>
                <a:spcPts val="800"/>
              </a:spcBef>
              <a:defRPr sz="2200">
                <a:solidFill>
                  <a:srgbClr val="F59E0B"/>
                </a:solidFill>
              </a:defRPr>
            </a:pPr>
            <a:r>
              <a:t>AI-Powered Candidate Assessment &amp; Hiring Intelligence System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Customized for Packaging &amp; Printing Manufacturing (Corrugation, Cartons, Flexible, Labels)</a:t>
            </a:r>
            <a:br/>
            <a:r>
              <a:t>Integrated with SAP Business One &amp; Indian Statutory Compliance (GST, TDS, ISD, BRS)</a:t>
            </a:r>
          </a:p>
          <a:p>
            <a:pPr>
              <a:spcBef>
                <a:spcPts val="4000"/>
              </a:spcBef>
              <a:defRPr sz="1200">
                <a:solidFill>
                  <a:srgbClr val="FFFFFF"/>
                </a:solidFill>
              </a:defRPr>
            </a:pPr>
            <a:r>
              <a:t>Executive Strategy &amp; Implementation Deck • Production-Ready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Business Problem &amp; Current Hiring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Resume Inflation &amp; Fraud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Candidates claim advanced mastery in GST &amp; SAP B1, but struggle with basic GSTR-2B matching or unbilled GRN allocations.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Subjective &amp; Arbitrary Interviews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Interviews vary randomly depending on who asks the questions, leading to inconsistent hiring and zero standardized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Engineering/Tech Background Gap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Candidates with non-finance degrees (e.g. B.Tech in AI) apply without an objective tool to measure their tech vs finance aptitude.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Heavy Managerial Burden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Senior Finance Managers spend 15–20 hours/month conducting repetitive first-round candidate screenings.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Statutory Compliance Risks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Junior accounting errors in TDS 194Q/206C or missed MSME 45-day rules result in tax disallowances and audit scrutiny.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Misaligned Role Placements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Candidates hired as 'Managers' lack high-level strategic controls, while strong 'Senior Accountants' are overlooked.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Strategic Value Proposition &amp; Quantifiable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75%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Screening Time Saved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Management only interviews pre-vetted, verified candidates with detailed AI report cards.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0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Bad Hires &amp; Resume Fraud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Direct MCQ testing of SAP B1, landed costs, and BOM scrap tracking before making job offers.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Standardized Benchmark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Every candidate gets the exact same 64 core questions for fair, objective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3-Tier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Placement Intelligence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Detects exact fit across Accountant, Senior Accountant, and Finance Manager roles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Core Assessment Architecture (80 Questions / 60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1: Registration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 uploads PDF/DOCX resume and selects target job role.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2: AI Parsing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AI extracts background and generates 16 custom verification MCQs (20%).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3: Role Bank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System loads 64 fixed, standardized role questions (80%).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4: 60-Min Exam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 attempts 80 questions with autosave and live background proctoring.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5: Submission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Candidate sees clean confirmation; zero test scores or answers are exposed.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Step 6: AI Report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Manager receives full intelligence report with charts, integrity logs &amp; interview Qs.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6 Core Accounting &amp; Finance Pillars (80% / 64 Questions)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Accounts Payable (AP)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 -&gt; GRN -&gt; AP Invoice flow</a:t>
            </a:r>
            <a:br/>
            <a:r>
              <a:t>• 3-Way matching tolerance rules</a:t>
            </a:r>
            <a:br/>
            <a:r>
              <a:t>• Liquid RM (inks/solvents) vs Solid</a:t>
            </a:r>
            <a:br/>
            <a:r>
              <a:t>• Landed costs &amp; MSME 45-day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Accounts Receivable (AR)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Sales Order -&gt; Delivery -&gt; AR Invoice</a:t>
            </a:r>
            <a:br/>
            <a:r>
              <a:t>• E-Invoicing &amp; E-Way Bill rules</a:t>
            </a:r>
            <a:br/>
            <a:r>
              <a:t>• Section 143 Job-Work Challans</a:t>
            </a:r>
            <a:br/>
            <a:r>
              <a:t>• Flexo/Corrugation Costing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Plant &amp; Cost Accounting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BOM for 4 Packaging Lines</a:t>
            </a:r>
            <a:br/>
            <a:r>
              <a:t>• Issue to WIP &amp; FG Receipts</a:t>
            </a:r>
            <a:br/>
            <a:r>
              <a:t>• Scrap &amp; Yield variance tracking</a:t>
            </a:r>
            <a:br/>
            <a:r>
              <a:t>• Machine Hour Rates (MHR) &amp; WIP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Banking &amp; Treasury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BRS timing differences &amp; Bounces</a:t>
            </a:r>
            <a:br/>
            <a:r>
              <a:t>• Payment Wizard batch runs</a:t>
            </a:r>
            <a:br/>
            <a:r>
              <a:t>• Drawing Power (DP) Calculation</a:t>
            </a:r>
            <a:br/>
            <a:r>
              <a:t>• Inland LC Bill Discounting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Indian Taxation (GST/TDS)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GSTR-1, 3B, GSTR-2B Matching</a:t>
            </a:r>
            <a:br/>
            <a:r>
              <a:t>• Rule 37 180-Day ITC Reversal</a:t>
            </a:r>
            <a:br/>
            <a:r>
              <a:t>• ISD Pro-Rata Distribution Formula</a:t>
            </a:r>
            <a:br/>
            <a:r>
              <a:t>• TDS 194C, 194J, 194Q &amp; 206C(1H)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Financial MIS &amp; Audits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Capital vs Revenue classification</a:t>
            </a:r>
            <a:br/>
            <a:r>
              <a:t>• Schedule II Component Depreciation</a:t>
            </a:r>
            <a:br/>
            <a:r>
              <a:t>• Ind AS 115 Revenue Cut-Off</a:t>
            </a:r>
            <a:br/>
            <a:r>
              <a:t>• Tax Audit Form 3CD &amp; CARO 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3-Tier Cognitive Levels &amp; Cross-Role Placement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 Cognitive Difficulty Tiers in Every Test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🟢 Basic Tier (Foundations &amp; Entries)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Standard PO-&gt;GRN-&gt;AP, Routine billing, BRS timing, basic GST/TDS rates, Golden rules.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🟡 Intermediate Tier (Reconciliations &amp; Taxes)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GSTR-2B matching, Rule 37 180-day ITC reversal, Landed costs, Job-work challans, WIP valuation.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🔴 Advanced Tier (Strategy, Controls &amp; Audits)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MSME 45-day Sec 43B(h), Product line margins, DP sheets, Tax audit Form 3CD, CARO 2020.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Simultaneous 3-Role Placement Ladder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💼 Accountant Fit %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= (0.60 x Basic) + (0.30 x Intermediate) + (0.10 x Advanced)</a:t>
            </a:r>
            <a:br/>
            <a:r>
              <a:t>Identifies mastery in transactional day-to-day data entry.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👔 Senior Accountant Fit %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= (0.30 x Basic) + (0.50 x Intermediate) + (0.20 x Advanced)</a:t>
            </a:r>
            <a:br/>
            <a:r>
              <a:t>Identifies competence in reconciliations, tax returns &amp; WIP.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🏛️ Finance Manager Fit %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= (0.15 x Basic) + (0.35 x Intermediate) + (0.50 x Advanced)</a:t>
            </a:r>
            <a:br/>
            <a:r>
              <a:t>Identifies capability in working capital, unit economics &amp; strategy.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Multi-Domain Resume Intelligence (B.Tech AI vs Commerce)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Technical &amp; B.Tech AI Profiles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Machine Learning &amp; Neural Networks: Overfitting, Dropout, L2 Regularization, Loss functions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Imbalanced Classification Metrics: Precision, Recall, F1-Score, PR-AUC vs Accuracy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Large Language Models &amp; NLP: Self-Attention mechanism, Transformer vs RNN architectures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Data Processing: Vectorized array calculations in Pandas vs slow iterrows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SQL &amp; Database Architecture: INNER JOIN vs LEFT JOIN execution plans &amp; indexing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Asynchronous Backend APIs: FastAPI event loops and async I/O throughput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Commerce &amp; Finance Profiles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 B1 Landed Cost Loading: Moving average inventory revaluation for imported goods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GSTR-3B Rule 37 Compliance: Mandatory 180-day unpaid vendor ITC reversal @ 18% interest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Section 194Q vs 206C(1H): Statutory buyer TDS precedence rules on goods purchases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Packaging BOM Scrap Booking: Crediting trim/shredded paper scrap to net WIP order cost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BRS Timing Reconciliation: Adjusting unpresented cheques and unrecorded direct credits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Input Service Distribution: Pro-rata turnover distribution formula among manufacturing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Active Background Proctoring &amp; Anti-Cheat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Tab Switching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visibilitychange API detects navigating away from assessment tab.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</a:defRPr>
            </a:pPr>
            <a:r>
              <a:t>Penalty: -8 Points /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Application Switching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window.onblur detects clicking outside browser window (Alt+Tab).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</a:defRPr>
            </a:pPr>
            <a:r>
              <a:t>Penalty: -8 Points /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Fullscreen Exit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fullscreenchange logs whenever candidate minimizes exam screen.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</a:defRPr>
            </a:pPr>
            <a:r>
              <a:t>Penalty: -10 Points / Event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Copy-Paste Block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Disables right-click, text selection, Ctrl+C and Ctrl+V clipboard operations.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</a:defRPr>
            </a:pPr>
            <a:r>
              <a:t>Penalty: -15 Points / Attempt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Prolonged Inactivity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Detects idle duration exceeding 90 seconds without user interaction.</a:t>
            </a:r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</a:defRPr>
            </a:pPr>
            <a:r>
              <a:t>Penalty: Logged on Audit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Integrity Score (0-100%)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Calculates composite integrity score displayed on Manager Dashboard.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Penalty: Immediate Flag if &lt; 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Manager Intelligence Portal &amp; Decision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AI Executive Verdict Card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Provides a definitive verdict: Strong Hire, Qualified, Needs Training, or Do Not Hire with rationale.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3-Role Placement Gauges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Visual progress bars showing candidate readiness % for Accountant, Senior Accountant, and Finance Manager.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Cognitive Level Breakdown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Shows candidate's mastery in Basic (Foundations), Intermediate (Operations), and Advanced (Strategy).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6-Pillar Skill Radar Chart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Visual comparison of candidate proficiency across 6 finance pillars against company target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Resume vs. Reality Audit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Line-by-line verification table showing whether claimed resume skills were verified or exaggerated.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84048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Proctoring Audit Timeline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Timestamped chronological log of all tab switches, window blur events, and copy-paste attempts.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Tailored Interview Questions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AI generates 3–5 targeted follow-up technical questions based on the candidate's exact test mistakes.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840480"/>
            <a:ext cx="25603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One-Click PDF/Print Export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Instantly printable executive report ready for Director and Board hiring review meetings.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Technical Architecture &amp; Development Effort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1828800"/>
                <a:gridCol w="18288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Technical Stack /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Estimated Effort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 API &amp;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Python, FastAPI, SQLAlchemy, SQLite, 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40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Question Bank Engineering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192 Handcrafted MCQs (P2P, O2C, Costing, Tax, BRS, MIS)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60 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 Resume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PyPDF, Docx, Domain Classifier, Dynamic 16-Q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Proctoring &amp; Anti-Cheat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Client-side visibility listeners, Fullscreen, Clipboard 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25 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Manager Intelligence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Bootstrap 5, Chart.js (Radar &amp; Bar), PDF Export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35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Testing, Validation &amp; 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End-to-End simulation tests, multi-tier placement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25 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Implementation Roadmap &amp;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1: Knowledge Extraction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</a:defRPr>
            </a:pPr>
            <a:r>
              <a:t>Timeline: Week 1  •  Status: COMPLETE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Map company SAP B1 modules, Packaging lines &amp; tax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2: Question Banks (192 MCQs)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</a:defRPr>
            </a:pPr>
            <a:r>
              <a:t>Timeline: Week 2  •  Status: COMPLETE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Handcraft 64 questions per role across Basic, Intermediate &amp; Advanced.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3: Resume Intelligence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</a:defRPr>
            </a:pPr>
            <a:r>
              <a:t>Timeline: Week 3  •  Status: COMPLETE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Build PDF/DOCX parser and multi-domain 16-question AI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4: Assessment Runner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</a:defRPr>
            </a:pPr>
            <a:r>
              <a:t>Timeline: Week 4  •  Status: COMPLETE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Build 60-min countdown exam engine with autosave &amp; proctoring.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5: Manager Dashboard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</a:defRPr>
            </a:pPr>
            <a:r>
              <a:t>Timeline: Week 5  •  Status: COMPLETE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Build Radar charts, 3-role placement gauges &amp; interview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Milestone 6: Production Rollout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Timeline: Week 6  •  Status: READY TO USE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End-to-end testing, pilot hiring rounds, and production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SMARTHIRE FINANCE — RECRUITMENT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Future Roadmap &amp; Multi-Departmental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1: Accounts &amp; Finance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CURRENT — LIVE</a:t>
            </a:r>
          </a:p>
          <a:p>
            <a:pPr algn="ctr">
              <a:spcBef>
                <a:spcPts val="2000"/>
              </a:spcBef>
              <a:defRPr sz="1100">
                <a:solidFill>
                  <a:srgbClr val="1E293B"/>
                </a:solidFill>
              </a:defRPr>
            </a:pPr>
            <a:r>
              <a:t>Complete hiring assessment for Accountant, Senior Accountant, and Finance Manager.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2: Supply Chain &amp; Purchasing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PLANNED</a:t>
            </a:r>
          </a:p>
          <a:p>
            <a:pPr algn="ctr">
              <a:spcBef>
                <a:spcPts val="2000"/>
              </a:spcBef>
              <a:defRPr sz="1100">
                <a:solidFill>
                  <a:srgbClr val="1E293B"/>
                </a:solidFill>
              </a:defRPr>
            </a:pPr>
            <a:r>
              <a:t>Assessment for Purchase Managers, RM Inward inspectors, and Vendor Negotiators.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3: Plant Operations &amp; QC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PLANNED</a:t>
            </a:r>
          </a:p>
          <a:p>
            <a:pPr algn="ctr">
              <a:spcBef>
                <a:spcPts val="2000"/>
              </a:spcBef>
              <a:defRPr sz="1100">
                <a:solidFill>
                  <a:srgbClr val="1E293B"/>
                </a:solidFill>
              </a:defRPr>
            </a:pPr>
            <a:r>
              <a:t>Assessment for Corrugator operators, Die-cutting supervisors &amp; Print QC technicians.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6032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Phase 4: SAP B1 Service Layer API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F59E0B"/>
                </a:solidFill>
              </a:defRPr>
            </a:pPr>
            <a:r>
              <a:t>PLANNED</a:t>
            </a:r>
          </a:p>
          <a:p>
            <a:pPr algn="ctr">
              <a:spcBef>
                <a:spcPts val="2000"/>
              </a:spcBef>
              <a:defRPr sz="1100">
                <a:solidFill>
                  <a:srgbClr val="1E293B"/>
                </a:solidFill>
              </a:defRPr>
            </a:pPr>
            <a:r>
              <a:t>Direct automated candidate syncing with SAP B1 Service Layer and HRMS payroll.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Conclusion &amp; Rollout Action Plan</a:t>
            </a:r>
          </a:p>
          <a:p>
            <a:pPr>
              <a:spcBef>
                <a:spcPts val="1800"/>
              </a:spcBef>
              <a:defRPr sz="1600" b="1">
                <a:solidFill>
                  <a:srgbClr val="FFFFFF"/>
                </a:solidFill>
              </a:defRPr>
            </a:pPr>
            <a:r>
              <a:t>1. Production Ready Solution: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The system is fully built, tested, and ready to host candidate assessments immediately.</a:t>
            </a:r>
          </a:p>
          <a:p>
            <a:pPr>
              <a:spcBef>
                <a:spcPts val="1800"/>
              </a:spcBef>
              <a:defRPr sz="1600" b="1">
                <a:solidFill>
                  <a:srgbClr val="FFFFFF"/>
                </a:solidFill>
              </a:defRPr>
            </a:pPr>
            <a:r>
              <a:t>2. Factory &amp; Compliance Tailored: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100% aligned with your Corrugation, Carton, Flexible, and Label operations under Indian GST/TDS.</a:t>
            </a:r>
          </a:p>
          <a:p>
            <a:pPr>
              <a:spcBef>
                <a:spcPts val="1800"/>
              </a:spcBef>
              <a:defRPr sz="1600" b="1">
                <a:solidFill>
                  <a:srgbClr val="FFFFFF"/>
                </a:solidFill>
              </a:defRPr>
            </a:pPr>
            <a:r>
              <a:t>3. Innovative Multi-Tier Placement: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Evaluates Basic, Intermediate, and Advanced skills simultaneously to place candidates in the right role.</a:t>
            </a:r>
          </a:p>
          <a:p>
            <a:pPr>
              <a:spcBef>
                <a:spcPts val="1800"/>
              </a:spcBef>
              <a:defRPr sz="1600" b="1">
                <a:solidFill>
                  <a:srgbClr val="FFFFFF"/>
                </a:solidFill>
              </a:defRPr>
            </a:pPr>
            <a:r>
              <a:t>4. Immediate Next Step: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Run `python run.py` on `http://127.0.0.1:8000` and pilot test with 3–5 candidate resumes.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